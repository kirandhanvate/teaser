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82880"/>
            <a:ext cx="137160" cy="137160"/>
          </a:xfrm>
          <a:prstGeom prst="rect">
            <a:avLst/>
          </a:prstGeom>
          <a:solidFill>
            <a:srgbClr val="99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320040"/>
            <a:ext cx="137160" cy="137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46304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640080"/>
            <a:ext cx="1828800" cy="320040"/>
          </a:xfrm>
          <a:prstGeom prst="rect">
            <a:avLst/>
          </a:prstGeom>
          <a:solidFill>
            <a:srgbClr val="99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640080"/>
            <a:ext cx="1188720" cy="320040"/>
          </a:xfrm>
          <a:prstGeom prst="rect">
            <a:avLst/>
          </a:prstGeom>
          <a:solidFill>
            <a:srgbClr val="CC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640080"/>
            <a:ext cx="2103120" cy="320040"/>
          </a:xfrm>
          <a:prstGeom prst="rect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2560320" cy="96012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09728"/>
            <a:ext cx="109728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640080"/>
            <a:ext cx="457200" cy="7315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874519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97180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480060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544068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6263640"/>
            <a:ext cx="3017520" cy="1828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"/>
            <a:ext cx="4114800" cy="3657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3400" b="1" i="0">
                <a:solidFill>
                  <a:srgbClr val="000000"/>
                </a:solidFill>
                <a:latin typeface="Arial Black"/>
              </a:defRPr>
            </a:pPr>
            <a:r>
              <a:t>QuantumFlow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"/>
            <a:ext cx="4114800" cy="1371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QuantumFlow Analytics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70408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January 16,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7160"/>
            <a:ext cx="2377440" cy="77724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MIT Sandbox Innovation 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005840"/>
            <a:ext cx="566928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50" b="1" i="1">
                <a:solidFill>
                  <a:srgbClr val="CC0000"/>
                </a:solidFill>
                <a:latin typeface="Arial"/>
              </a:defRPr>
            </a:pPr>
            <a:r>
              <a:t>Real-time enterprise analytics powered by quantum-inspired algorithms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24358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Business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1435608"/>
            <a:ext cx="2871216" cy="41148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50" b="0" i="0">
                <a:solidFill>
                  <a:srgbClr val="000000"/>
                </a:solidFill>
                <a:latin typeface="Arial"/>
              </a:defRPr>
            </a:pPr>
            <a:r>
              <a:t>☑ Prototype
☑ MVP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188366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Skolkovo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2075688"/>
            <a:ext cx="2871216" cy="86868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Program: MIT Sandbox
Stage: Cohort 2024
Year: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98094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3172968"/>
            <a:ext cx="2871216" cy="5943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Market Size: $75.0B
Growth Rate: 18.5%
Target: Fortune 500 enterprises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380390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Financials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3995928"/>
            <a:ext cx="2871216" cy="77724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550" b="0" i="0">
                <a:solidFill>
                  <a:srgbClr val="000000"/>
                </a:solidFill>
                <a:latin typeface="Courier New"/>
              </a:defRPr>
            </a:pPr>
            <a:r>
              <a:t>Revenue (Current): $0
Revenue (Y1): $500K
Revenue (Y2): $2.0M
Burn Rate: $50K
Runway: 18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480974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Patents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5001768"/>
            <a:ext cx="2871216" cy="41148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Granted: 0
Pending: 2
Planned: 3
Total: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544982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Funding background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" y="5641848"/>
            <a:ext cx="2871216" cy="5943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Raised to Date: $250K
Sources: MIT Sandbox, Angel investors
Rounds: Pre-seed $250K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272784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ctr">
              <a:lnSpc>
                <a:spcPct val="90000"/>
              </a:lnSpc>
              <a:defRPr sz="800" b="1" i="0">
                <a:solidFill>
                  <a:srgbClr val="000000"/>
                </a:solidFill>
                <a:latin typeface="Arial"/>
              </a:defRPr>
            </a:pPr>
            <a:r>
              <a:t>Contact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" y="6464808"/>
            <a:ext cx="2871216" cy="3657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600" b="0" i="0">
                <a:solidFill>
                  <a:srgbClr val="000000"/>
                </a:solidFill>
                <a:latin typeface="Arial"/>
              </a:defRPr>
            </a:pPr>
            <a:r>
              <a:t>Contact: Dr. Sarah Chen
Email: sarah@quantumflow.ai
Phone: +1-617-555-0123
Web: www.quantumflow.ai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1234440"/>
            <a:ext cx="5669280" cy="146304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The 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1399032"/>
            <a:ext cx="5669280" cy="64008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2084831"/>
            <a:ext cx="5669280" cy="146304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The Company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2249423"/>
            <a:ext cx="5669280" cy="10972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1" i="0">
                <a:solidFill>
                  <a:srgbClr val="CC0000"/>
                </a:solidFill>
                <a:latin typeface="Arial"/>
              </a:defRPr>
            </a:pPr>
            <a:r>
              <a:t>Company/Business Concept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2368295"/>
            <a:ext cx="5669280" cy="53035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day (RPD): Limit 200, Used 200, Requested 1. Please try again in 7m12s.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2944368"/>
            <a:ext cx="5669280" cy="128016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850" b="1" i="0">
                <a:solidFill>
                  <a:srgbClr val="000000"/>
                </a:solidFill>
                <a:latin typeface="Arial"/>
              </a:defRPr>
            </a:pPr>
            <a:r>
              <a:t>Project/Technology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090672"/>
            <a:ext cx="5669280" cy="59436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day (RPD): Limit 200, Used 200, Requested 1. Please try again in 7m12s.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730752"/>
            <a:ext cx="5669280" cy="10972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1" i="0">
                <a:solidFill>
                  <a:srgbClr val="CC0000"/>
                </a:solidFill>
                <a:latin typeface="Arial"/>
              </a:defRPr>
            </a:pPr>
            <a:r>
              <a:t>Expected advantages of the technology over main competitors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858768"/>
            <a:ext cx="5669280" cy="50292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407408"/>
            <a:ext cx="5669280" cy="10972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1" i="0">
                <a:solidFill>
                  <a:srgbClr val="CC0000"/>
                </a:solidFill>
                <a:latin typeface="Arial"/>
              </a:defRPr>
            </a:pPr>
            <a:r>
              <a:t>Current R&amp;D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535424"/>
            <a:ext cx="5669280" cy="457200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029200"/>
            <a:ext cx="5669280" cy="10972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1" i="0">
                <a:solidFill>
                  <a:srgbClr val="CC0000"/>
                </a:solidFill>
                <a:latin typeface="Arial"/>
              </a:defRPr>
            </a:pPr>
            <a:r>
              <a:t>Intellectual Property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157216"/>
            <a:ext cx="5669280" cy="34747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532120"/>
            <a:ext cx="5669280" cy="10972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1" i="0">
                <a:solidFill>
                  <a:srgbClr val="CC0000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660136"/>
            <a:ext cx="5669280" cy="475488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6144768"/>
            <a:ext cx="5669280" cy="146304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1200" b="1" i="0">
                <a:solidFill>
                  <a:srgbClr val="CC0000"/>
                </a:solidFill>
                <a:latin typeface="Arial"/>
              </a:defRPr>
            </a:pPr>
            <a:r>
              <a:t>Investment Opportunity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6309360"/>
            <a:ext cx="5669280" cy="530352"/>
          </a:xfrm>
          <a:prstGeom prst="rect">
            <a:avLst/>
          </a:prstGeom>
          <a:noFill/>
        </p:spPr>
        <p:txBody>
          <a:bodyPr wrap="square" lIns="18288" rIns="18288" tIns="9144" bIns="9144"/>
          <a:lstStyle/>
          <a:p>
            <a:pPr algn="l">
              <a:lnSpc>
                <a:spcPct val="90000"/>
              </a:lnSpc>
              <a:defRPr sz="700" b="0" i="0">
                <a:solidFill>
                  <a:srgbClr val="000000"/>
                </a:solidFill>
                <a:latin typeface="Arial"/>
              </a:defRPr>
            </a:pPr>
            <a:r>
              <a:t>[Content generation failed: Failed to generate content after 3 retries: Error code: 429 - {'error': {'message': 'Rate limit reached for gpt-4o-mini in organization org-TXMMOJxcaQpADH7BYijPx432 on requests per min (RPM): Limit 3, Used 3, Requested 1. Please try again in 20s. Visit https://platform.openai.com/account/rate-limits to learn more. You can increase your rate limit by adding a payment method to your account at https://platform.openai.com/account/billing.', 'type': 'requests', 'param': None, 'code': 'rate_limit_exceeded'}}]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